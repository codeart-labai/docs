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7827264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sumer"/>
          <p:cNvSpPr/>
          <p:nvPr/>
        </p:nvSpPr>
        <p:spPr>
          <a:xfrm>
            <a:off x="0" y="29260"/>
            <a:ext cx="2999232" cy="702259"/>
          </a:xfrm>
          <a:prstGeom prst="roundRect">
            <a:avLst/>
          </a:prstGeom>
          <a:solidFill>
            <a:srgbClr val="1F4E79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040" b="1">
                <a:solidFill>
                  <a:srgbClr val="FFFFFF"/>
                </a:solidFill>
                <a:latin typeface="Calibri"/>
              </a:rPr>
              <a:t>Consumer</a:t>
            </a:r>
          </a:p>
          <a:p>
            <a:pPr algn="ctr"/>
            <a:r>
              <a:rPr sz="1040" b="1">
                <a:solidFill>
                  <a:srgbClr val="FFFFFF"/>
                </a:solidFill>
                <a:latin typeface="Calibri"/>
              </a:rPr>
              <a:t>(Splunk / Scheduler)</a:t>
            </a:r>
          </a:p>
        </p:txBody>
      </p:sp>
      <p:sp>
        <p:nvSpPr>
          <p:cNvPr id="3" name="Arrow request"/>
          <p:cNvSpPr/>
          <p:nvPr/>
        </p:nvSpPr>
        <p:spPr>
          <a:xfrm>
            <a:off x="907084" y="760780"/>
            <a:ext cx="234086" cy="526694"/>
          </a:xfrm>
          <a:prstGeom prst="downArrow">
            <a:avLst/>
          </a:prstGeom>
          <a:solidFill>
            <a:srgbClr val="2E75B6"/>
          </a:solidFill>
          <a:ln w="952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040" b="0">
                <a:solidFill>
                  <a:srgbClr val="1F4E79"/>
                </a:solidFill>
                <a:latin typeface="Calibri"/>
              </a:rPr>
              <a:t/>
            </a:r>
          </a:p>
        </p:txBody>
      </p:sp>
      <p:sp>
        <p:nvSpPr>
          <p:cNvPr id="4" name="Label request"/>
          <p:cNvSpPr txBox="1"/>
          <p:nvPr/>
        </p:nvSpPr>
        <p:spPr>
          <a:xfrm>
            <a:off x="1228953" y="804672"/>
            <a:ext cx="3218688" cy="438912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960" b="0">
                <a:solidFill>
                  <a:srgbClr val="2E75B6"/>
                </a:solidFill>
                <a:latin typeface="Calibri"/>
              </a:rPr>
              <a:t>1 · HTTPS POST /extract/&lt;log-type&gt;</a:t>
            </a:r>
          </a:p>
        </p:txBody>
      </p:sp>
      <p:sp>
        <p:nvSpPr>
          <p:cNvPr id="5" name="Arrow reply"/>
          <p:cNvSpPr/>
          <p:nvPr/>
        </p:nvSpPr>
        <p:spPr>
          <a:xfrm>
            <a:off x="8631936" y="760780"/>
            <a:ext cx="234086" cy="526694"/>
          </a:xfrm>
          <a:prstGeom prst="upArrow">
            <a:avLst/>
          </a:prstGeom>
          <a:solidFill>
            <a:srgbClr val="2E75B6"/>
          </a:solidFill>
          <a:ln w="952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040" b="0">
                <a:solidFill>
                  <a:srgbClr val="1F4E79"/>
                </a:solidFill>
                <a:latin typeface="Calibri"/>
              </a:rPr>
              <a:t/>
            </a:r>
          </a:p>
        </p:txBody>
      </p:sp>
      <p:sp>
        <p:nvSpPr>
          <p:cNvPr id="6" name="Label reply"/>
          <p:cNvSpPr txBox="1"/>
          <p:nvPr/>
        </p:nvSpPr>
        <p:spPr>
          <a:xfrm>
            <a:off x="4828032" y="146304"/>
            <a:ext cx="3730752" cy="497433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r"/>
            <a:r>
              <a:rPr sz="960" b="0">
                <a:solidFill>
                  <a:srgbClr val="2E75B6"/>
                </a:solidFill>
                <a:latin typeface="Calibri"/>
              </a:rPr>
              <a:t>2 · HTTP 200 + NDJSON events</a:t>
            </a:r>
          </a:p>
        </p:txBody>
      </p:sp>
      <p:sp>
        <p:nvSpPr>
          <p:cNvPr id="7" name="Main process container"/>
          <p:cNvSpPr/>
          <p:nvPr/>
        </p:nvSpPr>
        <p:spPr>
          <a:xfrm>
            <a:off x="0" y="1345996"/>
            <a:ext cx="9144000" cy="2077516"/>
          </a:xfrm>
          <a:prstGeom prst="roundRect">
            <a:avLst/>
          </a:prstGeom>
          <a:solidFill>
            <a:srgbClr val="F4F8FD"/>
          </a:solidFill>
          <a:ln w="9525">
            <a:solidFill>
              <a:srgbClr val="8EA9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040" b="0">
                <a:solidFill>
                  <a:srgbClr val="1F4E79"/>
                </a:solidFill>
                <a:latin typeface="Calibri"/>
              </a:rPr>
              <a:t/>
            </a:r>
          </a:p>
        </p:txBody>
      </p:sp>
      <p:sp>
        <p:nvSpPr>
          <p:cNvPr id="8" name="Main process label"/>
          <p:cNvSpPr txBox="1"/>
          <p:nvPr/>
        </p:nvSpPr>
        <p:spPr>
          <a:xfrm>
            <a:off x="87782" y="1389888"/>
            <a:ext cx="4389120" cy="351129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1040" b="1">
                <a:solidFill>
                  <a:srgbClr val="1F4E79"/>
                </a:solidFill>
                <a:latin typeface="Calibri"/>
              </a:rPr>
              <a:t>CPI — Main Integration Process</a:t>
            </a:r>
          </a:p>
        </p:txBody>
      </p:sp>
      <p:sp>
        <p:nvSpPr>
          <p:cNvPr id="9" name="Read Last Run"/>
          <p:cNvSpPr/>
          <p:nvPr/>
        </p:nvSpPr>
        <p:spPr>
          <a:xfrm>
            <a:off x="146304" y="1872691"/>
            <a:ext cx="1536192" cy="965606"/>
          </a:xfrm>
          <a:prstGeom prst="roundRect">
            <a:avLst/>
          </a:prstGeom>
          <a:solidFill>
            <a:srgbClr val="D9E2F3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040" b="0">
                <a:solidFill>
                  <a:srgbClr val="1F4E79"/>
                </a:solidFill>
                <a:latin typeface="Calibri"/>
              </a:rPr>
              <a:t>Read Last Run</a:t>
            </a:r>
          </a:p>
          <a:p>
            <a:pPr algn="ctr"/>
            <a:r>
              <a:rPr sz="1040" b="0">
                <a:solidFill>
                  <a:srgbClr val="1F4E79"/>
                </a:solidFill>
                <a:latin typeface="Calibri"/>
              </a:rPr>
              <a:t>Data Store Get</a:t>
            </a:r>
          </a:p>
        </p:txBody>
      </p:sp>
      <p:sp>
        <p:nvSpPr>
          <p:cNvPr id="10" name="Resolve Window"/>
          <p:cNvSpPr/>
          <p:nvPr/>
        </p:nvSpPr>
        <p:spPr>
          <a:xfrm>
            <a:off x="1945843" y="1872691"/>
            <a:ext cx="1536192" cy="965606"/>
          </a:xfrm>
          <a:prstGeom prst="roundRect">
            <a:avLst/>
          </a:prstGeom>
          <a:solidFill>
            <a:srgbClr val="D9E2F3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040" b="0">
                <a:solidFill>
                  <a:srgbClr val="1F4E79"/>
                </a:solidFill>
                <a:latin typeface="Calibri"/>
              </a:rPr>
              <a:t>Resolve Window</a:t>
            </a:r>
          </a:p>
          <a:p>
            <a:pPr algn="ctr"/>
            <a:r>
              <a:rPr sz="1040" b="0">
                <a:solidFill>
                  <a:srgbClr val="1F4E79"/>
                </a:solidFill>
                <a:latin typeface="Calibri"/>
              </a:rPr>
              <a:t>first-run + gap cap</a:t>
            </a:r>
          </a:p>
        </p:txBody>
      </p:sp>
      <p:sp>
        <p:nvSpPr>
          <p:cNvPr id="11" name="Paginate"/>
          <p:cNvSpPr/>
          <p:nvPr/>
        </p:nvSpPr>
        <p:spPr>
          <a:xfrm>
            <a:off x="3745382" y="1872691"/>
            <a:ext cx="1536192" cy="965606"/>
          </a:xfrm>
          <a:prstGeom prst="roundRect">
            <a:avLst/>
          </a:prstGeom>
          <a:solidFill>
            <a:srgbClr val="D9E2F3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040" b="0">
                <a:solidFill>
                  <a:srgbClr val="1F4E79"/>
                </a:solidFill>
                <a:latin typeface="Calibri"/>
              </a:rPr>
              <a:t>Paginate</a:t>
            </a:r>
          </a:p>
          <a:p>
            <a:pPr algn="ctr"/>
            <a:r>
              <a:rPr sz="1040" b="0">
                <a:solidFill>
                  <a:srgbClr val="1F4E79"/>
                </a:solidFill>
                <a:latin typeface="Calibri"/>
              </a:rPr>
              <a:t>Looping Process Call</a:t>
            </a:r>
          </a:p>
        </p:txBody>
      </p:sp>
      <p:sp>
        <p:nvSpPr>
          <p:cNvPr id="12" name="Save Last Run"/>
          <p:cNvSpPr/>
          <p:nvPr/>
        </p:nvSpPr>
        <p:spPr>
          <a:xfrm>
            <a:off x="5544921" y="1872691"/>
            <a:ext cx="1536192" cy="965606"/>
          </a:xfrm>
          <a:prstGeom prst="roundRect">
            <a:avLst/>
          </a:prstGeom>
          <a:solidFill>
            <a:srgbClr val="D9E2F3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040" b="0">
                <a:solidFill>
                  <a:srgbClr val="1F4E79"/>
                </a:solidFill>
                <a:latin typeface="Calibri"/>
              </a:rPr>
              <a:t>Save Last Run</a:t>
            </a:r>
          </a:p>
          <a:p>
            <a:pPr algn="ctr"/>
            <a:r>
              <a:rPr sz="1040" b="0">
                <a:solidFill>
                  <a:srgbClr val="1F4E79"/>
                </a:solidFill>
                <a:latin typeface="Calibri"/>
              </a:rPr>
              <a:t>Data Store Write</a:t>
            </a:r>
          </a:p>
        </p:txBody>
      </p:sp>
      <p:sp>
        <p:nvSpPr>
          <p:cNvPr id="13" name="Build Reply"/>
          <p:cNvSpPr/>
          <p:nvPr/>
        </p:nvSpPr>
        <p:spPr>
          <a:xfrm>
            <a:off x="7344460" y="1872691"/>
            <a:ext cx="1536192" cy="965606"/>
          </a:xfrm>
          <a:prstGeom prst="roundRect">
            <a:avLst/>
          </a:prstGeom>
          <a:solidFill>
            <a:srgbClr val="D9E2F3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040" b="0">
                <a:solidFill>
                  <a:srgbClr val="1F4E79"/>
                </a:solidFill>
                <a:latin typeface="Calibri"/>
              </a:rPr>
              <a:t>Build Reply</a:t>
            </a:r>
          </a:p>
          <a:p>
            <a:pPr algn="ctr"/>
            <a:r>
              <a:rPr sz="1040" b="0">
                <a:solidFill>
                  <a:srgbClr val="1F4E79"/>
                </a:solidFill>
                <a:latin typeface="Calibri"/>
              </a:rPr>
              <a:t>NDJSON + X- headers</a:t>
            </a:r>
          </a:p>
        </p:txBody>
      </p:sp>
      <p:sp>
        <p:nvSpPr>
          <p:cNvPr id="14" name="Arrow step 1"/>
          <p:cNvSpPr/>
          <p:nvPr/>
        </p:nvSpPr>
        <p:spPr>
          <a:xfrm>
            <a:off x="1697126" y="2223820"/>
            <a:ext cx="219456" cy="263347"/>
          </a:xfrm>
          <a:prstGeom prst="rightArrow">
            <a:avLst/>
          </a:prstGeom>
          <a:solidFill>
            <a:srgbClr val="2E75B6"/>
          </a:solidFill>
          <a:ln w="952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040" b="0">
                <a:solidFill>
                  <a:srgbClr val="1F4E79"/>
                </a:solidFill>
                <a:latin typeface="Calibri"/>
              </a:rPr>
              <a:t/>
            </a:r>
          </a:p>
        </p:txBody>
      </p:sp>
      <p:sp>
        <p:nvSpPr>
          <p:cNvPr id="15" name="Arrow step 2"/>
          <p:cNvSpPr/>
          <p:nvPr/>
        </p:nvSpPr>
        <p:spPr>
          <a:xfrm>
            <a:off x="3496665" y="2223820"/>
            <a:ext cx="219456" cy="263347"/>
          </a:xfrm>
          <a:prstGeom prst="rightArrow">
            <a:avLst/>
          </a:prstGeom>
          <a:solidFill>
            <a:srgbClr val="2E75B6"/>
          </a:solidFill>
          <a:ln w="952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040" b="0">
                <a:solidFill>
                  <a:srgbClr val="1F4E79"/>
                </a:solidFill>
                <a:latin typeface="Calibri"/>
              </a:rPr>
              <a:t/>
            </a:r>
          </a:p>
        </p:txBody>
      </p:sp>
      <p:sp>
        <p:nvSpPr>
          <p:cNvPr id="16" name="Arrow step 3"/>
          <p:cNvSpPr/>
          <p:nvPr/>
        </p:nvSpPr>
        <p:spPr>
          <a:xfrm>
            <a:off x="5296204" y="2223820"/>
            <a:ext cx="219456" cy="263347"/>
          </a:xfrm>
          <a:prstGeom prst="rightArrow">
            <a:avLst/>
          </a:prstGeom>
          <a:solidFill>
            <a:srgbClr val="2E75B6"/>
          </a:solidFill>
          <a:ln w="952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040" b="0">
                <a:solidFill>
                  <a:srgbClr val="1F4E79"/>
                </a:solidFill>
                <a:latin typeface="Calibri"/>
              </a:rPr>
              <a:t/>
            </a:r>
          </a:p>
        </p:txBody>
      </p:sp>
      <p:sp>
        <p:nvSpPr>
          <p:cNvPr id="17" name="Arrow step 4"/>
          <p:cNvSpPr/>
          <p:nvPr/>
        </p:nvSpPr>
        <p:spPr>
          <a:xfrm>
            <a:off x="7095744" y="2223820"/>
            <a:ext cx="219456" cy="263347"/>
          </a:xfrm>
          <a:prstGeom prst="rightArrow">
            <a:avLst/>
          </a:prstGeom>
          <a:solidFill>
            <a:srgbClr val="2E75B6"/>
          </a:solidFill>
          <a:ln w="952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040" b="0">
                <a:solidFill>
                  <a:srgbClr val="1F4E79"/>
                </a:solidFill>
                <a:latin typeface="Calibri"/>
              </a:rPr>
              <a:t/>
            </a:r>
          </a:p>
        </p:txBody>
      </p:sp>
      <p:sp>
        <p:nvSpPr>
          <p:cNvPr id="18" name="Note high-water"/>
          <p:cNvSpPr txBox="1"/>
          <p:nvPr/>
        </p:nvSpPr>
        <p:spPr>
          <a:xfrm>
            <a:off x="146304" y="2911449"/>
            <a:ext cx="8734348" cy="351129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960" b="0">
                <a:solidFill>
                  <a:srgbClr val="595959"/>
                </a:solidFill>
                <a:latin typeface="Calibri"/>
              </a:rPr>
              <a:t>High-water advances only after the loop completes — any failure leaves it unchanged</a:t>
            </a:r>
          </a:p>
        </p:txBody>
      </p:sp>
      <p:sp>
        <p:nvSpPr>
          <p:cNvPr id="19" name="Arrow loop"/>
          <p:cNvSpPr/>
          <p:nvPr/>
        </p:nvSpPr>
        <p:spPr>
          <a:xfrm>
            <a:off x="4374489" y="3452774"/>
            <a:ext cx="263347" cy="438912"/>
          </a:xfrm>
          <a:prstGeom prst="downArrow">
            <a:avLst/>
          </a:prstGeom>
          <a:solidFill>
            <a:srgbClr val="2E75B6"/>
          </a:solidFill>
          <a:ln w="952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040" b="0">
                <a:solidFill>
                  <a:srgbClr val="1F4E79"/>
                </a:solidFill>
                <a:latin typeface="Calibri"/>
              </a:rPr>
              <a:t/>
            </a:r>
          </a:p>
        </p:txBody>
      </p:sp>
      <p:sp>
        <p:nvSpPr>
          <p:cNvPr id="20" name="Label loop"/>
          <p:cNvSpPr txBox="1"/>
          <p:nvPr/>
        </p:nvSpPr>
        <p:spPr>
          <a:xfrm>
            <a:off x="4710988" y="3482035"/>
            <a:ext cx="3803904" cy="38039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960" b="0">
                <a:solidFill>
                  <a:srgbClr val="2E75B6"/>
                </a:solidFill>
                <a:latin typeface="Calibri"/>
              </a:rPr>
              <a:t>repeat while hasMoreRecords = true</a:t>
            </a:r>
          </a:p>
        </p:txBody>
      </p:sp>
      <p:sp>
        <p:nvSpPr>
          <p:cNvPr id="21" name="Local process container"/>
          <p:cNvSpPr/>
          <p:nvPr/>
        </p:nvSpPr>
        <p:spPr>
          <a:xfrm>
            <a:off x="1053388" y="3950208"/>
            <a:ext cx="7095744" cy="1755648"/>
          </a:xfrm>
          <a:prstGeom prst="roundRect">
            <a:avLst/>
          </a:prstGeom>
          <a:solidFill>
            <a:srgbClr val="F4F8FD"/>
          </a:solidFill>
          <a:ln w="9525">
            <a:solidFill>
              <a:srgbClr val="8EA9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040" b="0">
                <a:solidFill>
                  <a:srgbClr val="1F4E79"/>
                </a:solidFill>
                <a:latin typeface="Calibri"/>
              </a:rPr>
              <a:t/>
            </a:r>
          </a:p>
        </p:txBody>
      </p:sp>
      <p:sp>
        <p:nvSpPr>
          <p:cNvPr id="22" name="Local process label"/>
          <p:cNvSpPr txBox="1"/>
          <p:nvPr/>
        </p:nvSpPr>
        <p:spPr>
          <a:xfrm>
            <a:off x="1141171" y="3994099"/>
            <a:ext cx="5852160" cy="351129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1040" b="1">
                <a:solidFill>
                  <a:srgbClr val="1F4E79"/>
                </a:solidFill>
                <a:latin typeface="Calibri"/>
              </a:rPr>
              <a:t>Local Integration Process — executed once per page</a:t>
            </a:r>
          </a:p>
        </p:txBody>
      </p:sp>
      <p:sp>
        <p:nvSpPr>
          <p:cNvPr id="23" name="OData Request-Reply"/>
          <p:cNvSpPr/>
          <p:nvPr/>
        </p:nvSpPr>
        <p:spPr>
          <a:xfrm>
            <a:off x="1258214" y="4476902"/>
            <a:ext cx="1901952" cy="965606"/>
          </a:xfrm>
          <a:prstGeom prst="roundRect">
            <a:avLst/>
          </a:prstGeom>
          <a:solidFill>
            <a:srgbClr val="D9E2F3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040" b="0">
                <a:solidFill>
                  <a:srgbClr val="1F4E79"/>
                </a:solidFill>
                <a:latin typeface="Calibri"/>
              </a:rPr>
              <a:t>OData Request-Reply</a:t>
            </a:r>
          </a:p>
          <a:p>
            <a:pPr algn="ctr"/>
            <a:r>
              <a:rPr sz="1040" b="0">
                <a:solidFill>
                  <a:srgbClr val="1F4E79"/>
                </a:solidFill>
                <a:latin typeface="Calibri"/>
              </a:rPr>
              <a:t>one page</a:t>
            </a:r>
          </a:p>
        </p:txBody>
      </p:sp>
      <p:sp>
        <p:nvSpPr>
          <p:cNvPr id="24" name="XML to JSON"/>
          <p:cNvSpPr/>
          <p:nvPr/>
        </p:nvSpPr>
        <p:spPr>
          <a:xfrm>
            <a:off x="3408883" y="4476902"/>
            <a:ext cx="1901952" cy="965606"/>
          </a:xfrm>
          <a:prstGeom prst="roundRect">
            <a:avLst/>
          </a:prstGeom>
          <a:solidFill>
            <a:srgbClr val="D9E2F3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040" b="0">
                <a:solidFill>
                  <a:srgbClr val="1F4E79"/>
                </a:solidFill>
                <a:latin typeface="Calibri"/>
              </a:rPr>
              <a:t>XML → JSON</a:t>
            </a:r>
          </a:p>
          <a:p>
            <a:pPr algn="ctr"/>
            <a:r>
              <a:rPr sz="1040" b="0">
                <a:solidFill>
                  <a:srgbClr val="1F4E79"/>
                </a:solidFill>
                <a:latin typeface="Calibri"/>
              </a:rPr>
              <a:t>converter</a:t>
            </a:r>
          </a:p>
        </p:txBody>
      </p:sp>
      <p:sp>
        <p:nvSpPr>
          <p:cNvPr id="25" name="Map and Accumulate"/>
          <p:cNvSpPr/>
          <p:nvPr/>
        </p:nvSpPr>
        <p:spPr>
          <a:xfrm>
            <a:off x="5559552" y="4476902"/>
            <a:ext cx="1901952" cy="965606"/>
          </a:xfrm>
          <a:prstGeom prst="roundRect">
            <a:avLst/>
          </a:prstGeom>
          <a:solidFill>
            <a:srgbClr val="D9E2F3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040" b="0">
                <a:solidFill>
                  <a:srgbClr val="1F4E79"/>
                </a:solidFill>
                <a:latin typeface="Calibri"/>
              </a:rPr>
              <a:t>Map + Accumulate</a:t>
            </a:r>
          </a:p>
          <a:p>
            <a:pPr algn="ctr"/>
            <a:r>
              <a:rPr sz="1040" b="0">
                <a:solidFill>
                  <a:srgbClr val="1F4E79"/>
                </a:solidFill>
                <a:latin typeface="Calibri"/>
              </a:rPr>
              <a:t>page → HEC NDJSON</a:t>
            </a:r>
          </a:p>
        </p:txBody>
      </p:sp>
      <p:sp>
        <p:nvSpPr>
          <p:cNvPr id="26" name="Arrow local 1"/>
          <p:cNvSpPr/>
          <p:nvPr/>
        </p:nvSpPr>
        <p:spPr>
          <a:xfrm>
            <a:off x="3218688" y="4828032"/>
            <a:ext cx="190195" cy="263347"/>
          </a:xfrm>
          <a:prstGeom prst="rightArrow">
            <a:avLst/>
          </a:prstGeom>
          <a:solidFill>
            <a:srgbClr val="2E75B6"/>
          </a:solidFill>
          <a:ln w="952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040" b="0">
                <a:solidFill>
                  <a:srgbClr val="1F4E79"/>
                </a:solidFill>
                <a:latin typeface="Calibri"/>
              </a:rPr>
              <a:t/>
            </a:r>
          </a:p>
        </p:txBody>
      </p:sp>
      <p:sp>
        <p:nvSpPr>
          <p:cNvPr id="27" name="Arrow local 2"/>
          <p:cNvSpPr/>
          <p:nvPr/>
        </p:nvSpPr>
        <p:spPr>
          <a:xfrm>
            <a:off x="5369356" y="4828032"/>
            <a:ext cx="190195" cy="263347"/>
          </a:xfrm>
          <a:prstGeom prst="rightArrow">
            <a:avLst/>
          </a:prstGeom>
          <a:solidFill>
            <a:srgbClr val="2E75B6"/>
          </a:solidFill>
          <a:ln w="952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040" b="0">
                <a:solidFill>
                  <a:srgbClr val="1F4E79"/>
                </a:solidFill>
                <a:latin typeface="Calibri"/>
              </a:rPr>
              <a:t/>
            </a:r>
          </a:p>
        </p:txBody>
      </p:sp>
      <p:sp>
        <p:nvSpPr>
          <p:cNvPr id="28" name="Arrow odata"/>
          <p:cNvSpPr/>
          <p:nvPr/>
        </p:nvSpPr>
        <p:spPr>
          <a:xfrm>
            <a:off x="2077516" y="5735116"/>
            <a:ext cx="263347" cy="409651"/>
          </a:xfrm>
          <a:prstGeom prst="downArrow">
            <a:avLst/>
          </a:prstGeom>
          <a:solidFill>
            <a:srgbClr val="2E75B6"/>
          </a:solidFill>
          <a:ln w="952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040" b="0">
                <a:solidFill>
                  <a:srgbClr val="1F4E79"/>
                </a:solidFill>
                <a:latin typeface="Calibri"/>
              </a:rPr>
              <a:t/>
            </a:r>
          </a:p>
        </p:txBody>
      </p:sp>
      <p:sp>
        <p:nvSpPr>
          <p:cNvPr id="29" name="S4HANA"/>
          <p:cNvSpPr/>
          <p:nvPr/>
        </p:nvSpPr>
        <p:spPr>
          <a:xfrm>
            <a:off x="1258214" y="6174028"/>
            <a:ext cx="3364991" cy="731520"/>
          </a:xfrm>
          <a:prstGeom prst="roundRect">
            <a:avLst/>
          </a:prstGeom>
          <a:solidFill>
            <a:srgbClr val="1F4E79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040" b="1">
                <a:solidFill>
                  <a:srgbClr val="FFFFFF"/>
                </a:solidFill>
                <a:latin typeface="Calibri"/>
              </a:rPr>
              <a:t>SAP S/4HANA Cloud</a:t>
            </a:r>
          </a:p>
          <a:p>
            <a:pPr algn="ctr"/>
            <a:r>
              <a:rPr sz="1040" b="1">
                <a:solidFill>
                  <a:srgbClr val="FFFFFF"/>
                </a:solidFill>
                <a:latin typeface="Calibri"/>
              </a:rPr>
              <a:t>Security log OData service (V2 / V4)</a:t>
            </a:r>
          </a:p>
        </p:txBody>
      </p:sp>
      <p:sp>
        <p:nvSpPr>
          <p:cNvPr id="30" name="Exception Subprocess"/>
          <p:cNvSpPr/>
          <p:nvPr/>
        </p:nvSpPr>
        <p:spPr>
          <a:xfrm>
            <a:off x="5047488" y="6086246"/>
            <a:ext cx="4096511" cy="907084"/>
          </a:xfrm>
          <a:prstGeom prst="roundRect">
            <a:avLst/>
          </a:prstGeom>
          <a:solidFill>
            <a:srgbClr val="FDECEA"/>
          </a:solidFill>
          <a:ln w="9525">
            <a:solidFill>
              <a:srgbClr val="C0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960" b="0">
                <a:solidFill>
                  <a:srgbClr val="C00000"/>
                </a:solidFill>
                <a:latin typeface="Calibri"/>
              </a:rPr>
              <a:t>Exception Subprocess — on any failure above</a:t>
            </a:r>
          </a:p>
          <a:p>
            <a:pPr algn="ctr"/>
            <a:r>
              <a:rPr sz="960" b="0">
                <a:solidFill>
                  <a:srgbClr val="C00000"/>
                </a:solidFill>
                <a:latin typeface="Calibri"/>
              </a:rPr>
              <a:t>HTTP 500 + JSON · high-water NOT advanced</a:t>
            </a:r>
          </a:p>
          <a:p>
            <a:pPr algn="ctr"/>
            <a:r>
              <a:rPr sz="960" b="0">
                <a:solidFill>
                  <a:srgbClr val="C00000"/>
                </a:solidFill>
                <a:latin typeface="Calibri"/>
              </a:rPr>
              <a:t>next call re-extracts the same window</a:t>
            </a:r>
          </a:p>
        </p:txBody>
      </p:sp>
      <p:sp>
        <p:nvSpPr>
          <p:cNvPr id="31" name="Note window"/>
          <p:cNvSpPr txBox="1"/>
          <p:nvPr/>
        </p:nvSpPr>
        <p:spPr>
          <a:xfrm>
            <a:off x="0" y="7095744"/>
            <a:ext cx="9144000" cy="438912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960" b="0">
                <a:solidFill>
                  <a:srgbClr val="595959"/>
                </a:solidFill>
                <a:latin typeface="Calibri"/>
              </a:rPr>
              <a:t>Delta window:  &lt;timestamp&gt; gt windowFrom  and  &lt;timestamp&gt; le runStartTime   (runStartTime becomes the next high-water)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