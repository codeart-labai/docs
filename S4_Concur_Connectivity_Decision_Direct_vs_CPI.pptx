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S/4HANA  ⇄  SAP Concur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Connectivity Decision — Direct Connection vs. SAP Integration Suite (CPI)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 Management · IT Security · Architecture review board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Travel &amp; Expense integration (Concur) with S/4HANA on-premise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requested:  connectivity platform for go-live, in view of the 2027 SuccessFactors 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· Prepared by RDS · Based on SAP Setup Guide SP23, SAP ICS documentation and SAP quote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route the Concur integration via SAP CPI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858000" cy="4663440"/>
          </a:xfrm>
          <a:prstGeom prst="roundRect">
            <a:avLst>
              <a:gd name="adj" fmla="val 1373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7335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Functionally identical options.  </a:t>
            </a:r>
            <a:pPr indent="0" marL="0">
              <a:buNone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supports two first-class topologies — direct point-to-point and via CPI. All business functionality, data mapping and controls are identical; only the network route differs.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70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5234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60904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is equal.  </a:t>
            </a:r>
            <a:pPr indent="0" marL="0">
              <a:buNone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outbound-only HTTPS from S/4 (no inbound ports, no Cloud Connector), OAuth2, PCI-compliant card tokenization. Security is not the deciding factor.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8496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3133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739896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decides.  </a:t>
            </a:r>
            <a:pPr indent="0" marL="0">
              <a:buNone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 (planned Q2 2027) requires CPI regardless. Starting Concur on CPI makes it the platform's first use case instead of a point-to-point exception to migrate later.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103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8188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belongs to the roadmap.  </a:t>
            </a:r>
            <a:pPr indent="0" marL="0">
              <a:buNone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~$300k/3-yr CPI quote is driven by the SuccessFactors decision, not by Concur. Incremental cost of routing Concur via CPI is near zero once the platform exists.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1417320"/>
            <a:ext cx="4050792" cy="4663440"/>
          </a:xfrm>
          <a:prstGeom prst="roundRect">
            <a:avLst>
              <a:gd name="adj" fmla="val 158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 on CPI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platform for Concur today and SuccessFactors tomorrow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later migration project, no point-to-point exception to govern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monitoring and a single controlled egress point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stays open: switching topology later is a configuration change in SAP, not a rebuild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being integrated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3200400"/>
          </a:xfrm>
          <a:prstGeom prst="roundRect">
            <a:avLst>
              <a:gd name="adj" fmla="val 2000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→ Concur   (master data exports)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Centers — for expense allocation</a:t>
            </a:r>
            <a:endParaRPr lang="en-US" sz="13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WBS Elements — for project expenses</a:t>
            </a:r>
            <a:endParaRPr lang="en-US" sz="13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— user profiles incl. the vendor ID used for reimbursement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532120" cy="3200400"/>
          </a:xfrm>
          <a:prstGeom prst="roundRect">
            <a:avLst>
              <a:gd name="adj" fmla="val 2000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 → S/4HANA   (financial posting import)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expense reports, incl. receipt attachments</a:t>
            </a:r>
            <a:endParaRPr lang="en-US" sz="13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card transactions (IBCP / CBCP) — PCI-safe tokenized card handling</a:t>
            </a:r>
            <a:endParaRPr lang="en-US" sz="13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SAP-delivered add-ons (CTE_FND, CTE_HCM, CTE_FIN) run inside S/4 and own the entire integration — data mapping, scheduling, error handling and the posting “feedback loop”. Master data always originates in SAP. This layer is identical in both connectivity options.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— what must exist before go-live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37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190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52728" y="16642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 tenant (SAP Concur assists)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application activated; OAuth credentials issued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Cost-object list, employee/report/allocation forms, Custom 17 = vendor ID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“Enable Financial Integration” per expense group (Concur-staff action)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ends with an Expense Processor step; accounts &amp; tax codes mapped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737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7190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6642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on-premise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9432" y="242316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add-ons installed (non-modifying, no impact on standard processes)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egress + certificate trust (STRUST)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roles, batch users, job schedule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via guided wizards (CTE_SETUP)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147304" y="1463040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E6EEF9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1737360"/>
            <a:ext cx="365760" cy="36576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17190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97112" y="16642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for CPI option only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21624" y="242316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subaccount with Integration Suite subscription (the quoted item)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 capability activated; team roles assigned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SAP-provided pass-through iFlow deployed and secured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Connector, no new inbound network paths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Concur-side and S/4-side prerequisites are identical for both options — only the third column is added by CPI.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AVAILABLE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SAP-supported topologies — same functionality, different route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Direct connection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 →  Concur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HTTPS from the SAP system straight to Concur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trust and egress rules live on the SAP side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platform or subscription — fastest to stand up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governance exception once a central integration platform exists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E6EEF9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via SAP Integration Suite (CPI)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 →  CPI  →  Concur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calls, routed through a thin SAP-provided “pass-through” flow on CPI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controlled egress point; central message monitoring on the platform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BTP / Integration Suite subscription (the quoted ~$300k / 3 yrs)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SuccessFactors will require from Q2 2027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treats both as first-class. The choice is a network &amp; governance decision — not a functional one.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Direct connection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201400" cy="2377440"/>
          </a:xfrm>
          <a:prstGeom prst="roundRect">
            <a:avLst>
              <a:gd name="adj" fmla="val 2692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574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add-ons · CTE_SETUP wizards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0" y="205740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05088" y="20574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Concur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posting queue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2468880"/>
            <a:ext cx="4663440" cy="0"/>
          </a:xfrm>
          <a:prstGeom prst="line">
            <a:avLst/>
          </a:prstGeom>
          <a:noFill/>
          <a:ln w="3175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5760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· TLS 1.2+ · OAuth2 (company JWT)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3063240"/>
            <a:ext cx="4663440" cy="0"/>
          </a:xfrm>
          <a:prstGeom prst="line">
            <a:avLst/>
          </a:prstGeom>
          <a:noFill/>
          <a:ln w="31750">
            <a:solidFill>
              <a:srgbClr val="6B768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57600" y="3118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are pulled by S/4 — Concur never connects 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proxy: allowlist egress to Concur host + gateway host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points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9884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480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4074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add-ons, connection wizard (RFC destination), export/import jobs, monitors (CTE_MONI), GDPR tooling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449884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4480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44074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 server certificates in SAP trust store (STRUST); OAuth secrets in ABAP secure store; role-based access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36752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349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2760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443 from SAP app servers to 2 Concur URLs (data-centre specific); proxy credentials if used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536752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5349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52760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configuration (lists, forms, groups, workflow); credentials issued by SAP Concur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via SAP Integration Suite (CPI)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201400" cy="2377440"/>
          </a:xfrm>
          <a:prstGeom prst="roundRect">
            <a:avLst>
              <a:gd name="adj" fmla="val 2692"/>
            </a:avLst>
          </a:prstGeom>
          <a:solidFill>
            <a:srgbClr val="E6EEF9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5740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add-ons (unchanged)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057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028074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205740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CPI (BTP)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iFlow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0" y="20574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16568" y="205740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Concur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posting queue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1234440" cy="0"/>
          </a:xfrm>
          <a:prstGeom prst="line">
            <a:avLst/>
          </a:prstGeom>
          <a:noFill/>
          <a:ln w="3175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46120" y="20848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2468880"/>
            <a:ext cx="1325880" cy="0"/>
          </a:xfrm>
          <a:prstGeom prst="line">
            <a:avLst/>
          </a:prstGeom>
          <a:noFill/>
          <a:ln w="3175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06640" y="20848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1: SAP trusts CPI endpoint (public CA) · service-key or client-cert auth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2: CPI keystore trusts Concur · credentials forwarded, held only in SAP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legs outbound-initiated · no Cloud Connector · iFlow performs no mapping — it routes and returns responses unchanged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points (in addition to all Option A points except SAP-side Concur certificates)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49884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480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4074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platform: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Subaccount, Integration Suite subscription, Cloud Integration capability, team roles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49884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4480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4074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iFlow: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SAP-provided pass-through content from the Business Accelerator Hub — deploy, secure, no custom mapping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36752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5349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2760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auth via service key / client certificate; Concur trust moves to the CPI keystore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5367528"/>
            <a:ext cx="274320" cy="27432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5349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52760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 </a:t>
            </a:r>
            <a:pPr indent="0" marL="0">
              <a:buNone/>
            </a:pPr>
            <a:r>
              <a:rPr lang="en-US" sz="11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egress narrows to a single CPI endpoint; CPI reaches Concur natively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vs. CPI — what actually differs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9776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 · 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 · via CPI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functionality &amp;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— owned by the SAP add-ons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— owned by the SAP add-ons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Outbound-only · TLS · OAuth2 · PCI tokenization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plus single controlled egress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exposure / Cloud Connector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not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not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certs in SAP (STRUST), renewals SAP-side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certs in CPI keystore; SAP trusts one CPI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build artifact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 iFlow (SAP-provided, config-only)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SAP-side (CTE monitors, logs)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SAP-side + central CPI message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~$300k / 3 yrs (Integration Suite — also needed for SuccessFactors)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go-live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— no platform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~1–2 weeks platform setup (one-time)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with 2027 SuccessFactors 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later migration or a permanent 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— same platform, first 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SECURITY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posture — equal by design in both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373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7190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645920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 —  </a:t>
            </a:r>
            <a:pPr indent="0" marL="0">
              <a:buNone/>
            </a:pPr>
            <a:r>
              <a:rPr lang="en-US" sz="113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initiates every call — even “imports” are pulled from a Concur queue. No inbound firewall ports, no listener, no DMZ component, no Cloud Connector in either option.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02920" y="3035808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32186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320040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3127248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trust  —  </a:t>
            </a:r>
            <a:pPr indent="0" marL="0">
              <a:buNone/>
            </a:pPr>
            <a:r>
              <a:rPr lang="en-US" sz="113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on every leg; server certificates validated against an explicit trust store (SAP STRUST or CPI keystore). Egress restricted to an allowlist.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4517136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470001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46817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4608576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—  </a:t>
            </a:r>
            <a:pPr indent="0" marL="0">
              <a:buNone/>
            </a:pPr>
            <a:r>
              <a:rPr lang="en-US" sz="113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company-level credentials, stored in the ABAP secure store; rotation supported without re-setup. CPI endpoint additionally secured by service key or client certificate.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17373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7190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1645920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compliance  —  </a:t>
            </a:r>
            <a:pPr indent="0" marL="0">
              <a:buNone/>
            </a:pPr>
            <a:r>
              <a:rPr lang="en-US" sz="113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never stored in SAP — Concur sends a token; the PAN is decrypted only at the payment run with a certificate held solely by our system.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17920" y="3035808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32186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20040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127248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 —  </a:t>
            </a:r>
            <a:pPr indent="0" marL="0">
              <a:buNone/>
            </a:pPr>
            <a:r>
              <a:rPr lang="en-US" sz="113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GDPR tooling: per-employee data disclosure, irreversible data destruction, read-access logging. HTTP logs role-restricted and auto-purged after 90 days.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217920" y="4517136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E6EEF9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70001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46817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6288" y="4608576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CPI changes  —  </a:t>
            </a:r>
            <a:pPr indent="0" marL="0">
              <a:buNone/>
            </a:pPr>
            <a:r>
              <a:rPr lang="en-US" sz="113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removed; it adds central message monitoring and narrows SAP egress to a single endpoint. Security review can approve either topology on the same criteria.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decision outlives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0"/>
          </a:xfrm>
          <a:prstGeom prst="line">
            <a:avLst/>
          </a:prstGeom>
          <a:noFill/>
          <a:ln w="38100">
            <a:solidFill>
              <a:srgbClr val="C7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4942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Q4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⇄ Concur go-live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decision (this deck)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2249424"/>
            <a:ext cx="256032" cy="256032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 program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TBD — integration platform required: CPI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52560" y="2249424"/>
            <a:ext cx="256032" cy="256032"/>
          </a:xfrm>
          <a:prstGeom prst="ellipse">
            <a:avLst/>
          </a:prstGeom>
          <a:solidFill>
            <a:srgbClr val="6B7683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cloud integrations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platform, monitoring and governance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11201400" cy="1965960"/>
          </a:xfrm>
          <a:prstGeom prst="roundRect">
            <a:avLst>
              <a:gd name="adj" fmla="val 3256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today's choice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 integrations (employee data, and any S/4 touchpoints) are delivered on CPI — the platform arrives in ~3 quarters regardless of what Concur does.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direct now creates a point-to-point exception that must either be migrated in 2027 (second change + regression test on a live payments interface) or governed as a permanent exception.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CPI now front-loads the platform onboarding once, with a low-risk pass-through as its first production use case — SuccessFactors then lands on proven ground.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quote + implementation effort (indicative)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749040" cy="4480560"/>
          </a:xfrm>
          <a:prstGeom prst="roundRect">
            <a:avLst>
              <a:gd name="adj" fmla="val 17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quote — Integration Suite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~$300k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contract  (~$100k / yr)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SuccessFactors roadmap — incurred in 2027 even if Concur goes direct</a:t>
            </a:r>
            <a:endParaRPr lang="en-US" sz="11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sizing &amp; tier vs. actual message volumes before signing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463040"/>
          <a:ext cx="71780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item (indicative)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CPI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tenant + S/4 application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onboarding (BTP, roles, capability)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days, one-time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build (certs / iFlow deploy &amp; secure)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cutover &amp;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to CPI in 2027 (if starting direct)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days + regression on live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platform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(shared with SuccessFactors)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26280" y="525780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for the decision:  </a:t>
            </a:r>
            <a:pPr indent="0" marL="0"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SuccessFactors is confirmed, the platform cost lands either way — the true incremental cost of putting Concur on CPI is ~1–2 weeks of one-time effort. If SuccessFactors slips, direct defers ~$100k/yr; the topology can still be switched later via configuration.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viable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39312" cy="4526280"/>
          </a:xfrm>
          <a:prstGeom prst="roundRect">
            <a:avLst>
              <a:gd name="adj" fmla="val 1759"/>
            </a:avLst>
          </a:prstGeom>
          <a:solidFill>
            <a:srgbClr val="E6EEF9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CPI from day one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Integration Suite now; Concur is the platform's first, low-risk use case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security review, one operating model, no later migration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 lands on a proven platform in 2027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639312" cy="4526280"/>
          </a:xfrm>
          <a:prstGeom prst="roundRect">
            <a:avLst>
              <a:gd name="adj" fmla="val 175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FALLBACK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99432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Direct now, migrate at SF time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9432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go-live; defers platform cost until SuccessFactors is signed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later is configuration-level (reconnect wizard), but touches a live payments interface — second cutover + regression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choice if SuccessFactors is uncertain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639312" cy="4526280"/>
          </a:xfrm>
          <a:prstGeom prst="roundRect">
            <a:avLst>
              <a:gd name="adj" fmla="val 175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1624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ADVISED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21624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— Direct permanently, CPI only for SF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21624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connectivity models to secure, monitor and audit indefinitely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 becomes a standing exception to the integration governance CPI introduces</a:t>
            </a:r>
            <a:endParaRPr lang="en-US" sz="1180" dirty="0"/>
          </a:p>
          <a:p>
            <a:pPr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saving once the platform exists anyway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CPI as the connectivity platform for the S/4 ⇄ Concur integration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30552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—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CPI topology and the Integration Suite subscription intent (subject to quote validation); confirm the SuccessFactors Q2 2027 planning assumption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13639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1810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3044952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—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outbound-only architecture (both options — appendix) and confirm sign-off criteria for the CPI endpoint authentication and egress allowlisting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2394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05656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4032504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SAP  —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~$300k quote scope: environments (test + prod tenants), message-volume tier, and whether existing agreements offset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511149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93208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5020056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—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platform onboarding (~1–2 weeks) ahead of connectivity build; runbooks for both topologies are complete and ready for execution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material: Direct Connection Runbook v2.1 · CPI Connection Runbook v1.0 · SAP Setup Guide SP23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 pass-through — what the iFlow does (and doesn't)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iFlow MUST (SAP-defined contract)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two routing headers (target URL, authorization) onto the forwarded request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all protocol headers unchanged (correlation ID, content type, company ID…)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Concur's response to SAP without modification (UTF-8 end-to-end)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unreachable Concur as HTTP 500 with the error text in the body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GET, PUT, POST, DELETE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F0F5FC"/>
          </a:solidFill>
          <a:ln/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iFlow does NOT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enrich or inspect payloads — zero business logic in the middleware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Concur credentials — they remain in the S/4 secure store and are only forwarded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into the on-premise network — no Cloud Connector, no inbound path</a:t>
            </a:r>
            <a:endParaRPr lang="en-US" sz="120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SAP-side configuration — the add-ons run identically in both topologies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SAP-provided (Business Accelerator Hub) — deployment is configuration, not development.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 — identical in both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12264" cy="1051560"/>
          </a:xfrm>
          <a:prstGeom prst="roundRect">
            <a:avLst>
              <a:gd name="adj" fmla="val 5217"/>
            </a:avLst>
          </a:prstGeom>
          <a:solidFill>
            <a:srgbClr val="E6EEF9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00200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report waits in Concur queue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15184" y="2121408"/>
            <a:ext cx="182880" cy="0"/>
          </a:xfrm>
          <a:prstGeom prst="line">
            <a:avLst/>
          </a:prstGeom>
          <a:noFill/>
          <a:ln w="2540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98064" y="1600200"/>
            <a:ext cx="2112264" cy="1051560"/>
          </a:xfrm>
          <a:prstGeom prst="roundRect">
            <a:avLst>
              <a:gd name="adj" fmla="val 5217"/>
            </a:avLst>
          </a:prstGeom>
          <a:solidFill>
            <a:srgbClr val="F0F5FC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600200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pulls it (scheduled job)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10328" y="2121408"/>
            <a:ext cx="182880" cy="0"/>
          </a:xfrm>
          <a:prstGeom prst="line">
            <a:avLst/>
          </a:prstGeom>
          <a:noFill/>
          <a:ln w="2540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93208" y="1600200"/>
            <a:ext cx="2112264" cy="1051560"/>
          </a:xfrm>
          <a:prstGeom prst="roundRect">
            <a:avLst>
              <a:gd name="adj" fmla="val 5217"/>
            </a:avLst>
          </a:prstGeom>
          <a:solidFill>
            <a:srgbClr val="F0F5FC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2936" y="1600200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acknowledges receipt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05472" y="2121408"/>
            <a:ext cx="182880" cy="0"/>
          </a:xfrm>
          <a:prstGeom prst="line">
            <a:avLst/>
          </a:prstGeom>
          <a:noFill/>
          <a:ln w="2540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88352" y="1600200"/>
            <a:ext cx="2112264" cy="1051560"/>
          </a:xfrm>
          <a:prstGeom prst="roundRect">
            <a:avLst>
              <a:gd name="adj" fmla="val 5217"/>
            </a:avLst>
          </a:prstGeom>
          <a:solidFill>
            <a:srgbClr val="F0F5FC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600200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posts to FI &amp; confirms result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00616" y="2121408"/>
            <a:ext cx="182880" cy="0"/>
          </a:xfrm>
          <a:prstGeom prst="line">
            <a:avLst/>
          </a:prstGeom>
          <a:noFill/>
          <a:ln w="25400">
            <a:solidFill>
              <a:srgbClr val="02807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83496" y="1600200"/>
            <a:ext cx="2112264" cy="1051560"/>
          </a:xfrm>
          <a:prstGeom prst="roundRect">
            <a:avLst>
              <a:gd name="adj" fmla="val 5217"/>
            </a:avLst>
          </a:prstGeom>
          <a:solidFill>
            <a:srgbClr val="E6EEF9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93224" y="1600200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retrieved · payment status returned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11155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postings are corrected in Concur by the Expense Processor and automatically re-enter the cycle — errors are surfaced in SAP monitors with resolution guidance.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can be revised (“deltas”) for 90 days after posting; the integration posts only the difference.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SAP-side communication monitor and application logs in both options; CPI adds platform-level message monitoring.</a:t>
            </a:r>
            <a:endParaRPr lang="en-US" sz="1250" dirty="0"/>
          </a:p>
          <a:p>
            <a:pPr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protection: per-employee disclosure and destruction reports, read-access logging, role-restricted HTTP logs (auto-purged after 90 days).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⇄ SAP Concur · Connectivity decision ·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2026-08-13T07:39:42Z</dcterms:created>
  <dcterms:modified xsi:type="dcterms:W3CDTF">2026-08-13T07:39:42Z</dcterms:modified>
</cp:coreProperties>
</file>