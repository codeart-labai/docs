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37490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lunk"/>
          <p:cNvSpPr/>
          <p:nvPr/>
        </p:nvSpPr>
        <p:spPr>
          <a:xfrm>
            <a:off x="0" y="1005840"/>
            <a:ext cx="2834640" cy="1371600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Splunk</a:t>
            </a:r>
          </a:p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SIEM consumer</a:t>
            </a:r>
          </a:p>
        </p:txBody>
      </p:sp>
      <p:sp>
        <p:nvSpPr>
          <p:cNvPr id="3" name="SAP CPI"/>
          <p:cNvSpPr/>
          <p:nvPr/>
        </p:nvSpPr>
        <p:spPr>
          <a:xfrm>
            <a:off x="4297680" y="1005840"/>
            <a:ext cx="2834640" cy="137160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SAP Integration Suite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Cloud Integration (CPI)</a:t>
            </a:r>
          </a:p>
        </p:txBody>
      </p:sp>
      <p:sp>
        <p:nvSpPr>
          <p:cNvPr id="4" name="S4HANA Cloud"/>
          <p:cNvSpPr/>
          <p:nvPr/>
        </p:nvSpPr>
        <p:spPr>
          <a:xfrm>
            <a:off x="8595360" y="1005840"/>
            <a:ext cx="2834640" cy="1371600"/>
          </a:xfrm>
          <a:prstGeom prst="roundRect">
            <a:avLst/>
          </a:prstGeom>
          <a:solidFill>
            <a:srgbClr val="D9E2F3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SAP S/4HANA Cloud</a:t>
            </a:r>
          </a:p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Security log OData services</a:t>
            </a:r>
          </a:p>
        </p:txBody>
      </p:sp>
      <p:sp>
        <p:nvSpPr>
          <p:cNvPr id="5" name="Arrow pull request"/>
          <p:cNvSpPr/>
          <p:nvPr/>
        </p:nvSpPr>
        <p:spPr>
          <a:xfrm>
            <a:off x="2962656" y="1280160"/>
            <a:ext cx="1207008" cy="274320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6" name="Arrow events out"/>
          <p:cNvSpPr/>
          <p:nvPr/>
        </p:nvSpPr>
        <p:spPr>
          <a:xfrm>
            <a:off x="2962656" y="1938528"/>
            <a:ext cx="1207008" cy="274320"/>
          </a:xfrm>
          <a:prstGeom prst="lef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7" name="Label pull"/>
          <p:cNvSpPr txBox="1"/>
          <p:nvPr/>
        </p:nvSpPr>
        <p:spPr>
          <a:xfrm>
            <a:off x="2340864" y="548640"/>
            <a:ext cx="2450592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2E75B6"/>
                </a:solidFill>
                <a:latin typeface="Calibri"/>
              </a:rPr>
              <a:t>1 · HTTPS pull request</a:t>
            </a:r>
          </a:p>
        </p:txBody>
      </p:sp>
      <p:sp>
        <p:nvSpPr>
          <p:cNvPr id="8" name="Label events"/>
          <p:cNvSpPr txBox="1"/>
          <p:nvPr/>
        </p:nvSpPr>
        <p:spPr>
          <a:xfrm>
            <a:off x="2340864" y="2377440"/>
            <a:ext cx="2450592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2E75B6"/>
                </a:solidFill>
                <a:latin typeface="Calibri"/>
              </a:rPr>
              <a:t>4 · HTTP 200 + NDJSON events</a:t>
            </a:r>
          </a:p>
        </p:txBody>
      </p:sp>
      <p:sp>
        <p:nvSpPr>
          <p:cNvPr id="9" name="Arrow odata query"/>
          <p:cNvSpPr/>
          <p:nvPr/>
        </p:nvSpPr>
        <p:spPr>
          <a:xfrm>
            <a:off x="7260336" y="1280160"/>
            <a:ext cx="1207008" cy="274320"/>
          </a:xfrm>
          <a:prstGeom prst="righ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10" name="Arrow log records"/>
          <p:cNvSpPr/>
          <p:nvPr/>
        </p:nvSpPr>
        <p:spPr>
          <a:xfrm>
            <a:off x="7260336" y="1938528"/>
            <a:ext cx="1207008" cy="274320"/>
          </a:xfrm>
          <a:prstGeom prst="leftArrow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0">
                <a:solidFill>
                  <a:srgbClr val="1F4E79"/>
                </a:solidFill>
                <a:latin typeface="Calibri"/>
              </a:rPr>
              <a:t/>
            </a:r>
          </a:p>
        </p:txBody>
      </p:sp>
      <p:sp>
        <p:nvSpPr>
          <p:cNvPr id="11" name="Label query"/>
          <p:cNvSpPr txBox="1"/>
          <p:nvPr/>
        </p:nvSpPr>
        <p:spPr>
          <a:xfrm>
            <a:off x="6638544" y="548640"/>
            <a:ext cx="2450592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2E75B6"/>
                </a:solidFill>
                <a:latin typeface="Calibri"/>
              </a:rPr>
              <a:t>2 · OData delta query</a:t>
            </a:r>
          </a:p>
        </p:txBody>
      </p:sp>
      <p:sp>
        <p:nvSpPr>
          <p:cNvPr id="12" name="Label records"/>
          <p:cNvSpPr txBox="1"/>
          <p:nvPr/>
        </p:nvSpPr>
        <p:spPr>
          <a:xfrm>
            <a:off x="6638544" y="2377440"/>
            <a:ext cx="2450592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2E75B6"/>
                </a:solidFill>
                <a:latin typeface="Calibri"/>
              </a:rPr>
              <a:t>3 · security log records</a:t>
            </a:r>
          </a:p>
        </p:txBody>
      </p:sp>
      <p:sp>
        <p:nvSpPr>
          <p:cNvPr id="13" name="Note interfaces"/>
          <p:cNvSpPr txBox="1"/>
          <p:nvPr/>
        </p:nvSpPr>
        <p:spPr>
          <a:xfrm>
            <a:off x="0" y="2962656"/>
            <a:ext cx="11430000" cy="438912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Four interfaces, one per log type:  Security Audit  ·  Read Access  ·  Business User Changes  ·  Business Role Changes</a:t>
            </a:r>
          </a:p>
        </p:txBody>
      </p:sp>
      <p:sp>
        <p:nvSpPr>
          <p:cNvPr id="14" name="Note pull model"/>
          <p:cNvSpPr txBox="1"/>
          <p:nvPr/>
        </p:nvSpPr>
        <p:spPr>
          <a:xfrm>
            <a:off x="0" y="3346704"/>
            <a:ext cx="11430000" cy="40233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595959"/>
                </a:solidFill>
                <a:latin typeface="Calibri"/>
              </a:rPr>
              <a:t>CPI holds the delta high-water mark; Splunk initiates every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